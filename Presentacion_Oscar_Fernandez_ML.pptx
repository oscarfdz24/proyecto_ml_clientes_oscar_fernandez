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editar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892BB7-56C4-480C-A2F8-8E9006AB933D}" type="datetimeFigureOut">
              <a:rPr lang="es-ES" smtClean="0"/>
              <a:t>26/03/2026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C0EB54-6856-44FB-8970-2053F218789E}" type="slidenum">
              <a:rPr lang="es-ES" smtClean="0"/>
              <a:t>‹Nº›</a:t>
            </a:fld>
            <a:endParaRPr lang="es-ES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388011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892BB7-56C4-480C-A2F8-8E9006AB933D}" type="datetimeFigureOut">
              <a:rPr lang="es-ES" smtClean="0"/>
              <a:t>26/03/2026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C0EB54-6856-44FB-8970-2053F218789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459757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892BB7-56C4-480C-A2F8-8E9006AB933D}" type="datetimeFigureOut">
              <a:rPr lang="es-ES" smtClean="0"/>
              <a:t>26/03/2026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C0EB54-6856-44FB-8970-2053F218789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091330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892BB7-56C4-480C-A2F8-8E9006AB933D}" type="datetimeFigureOut">
              <a:rPr lang="es-ES" smtClean="0"/>
              <a:t>26/03/2026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C0EB54-6856-44FB-8970-2053F218789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179795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892BB7-56C4-480C-A2F8-8E9006AB933D}" type="datetimeFigureOut">
              <a:rPr lang="es-ES" smtClean="0"/>
              <a:t>26/03/2026</a:t>
            </a:fld>
            <a:endParaRPr lang="es-E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C0EB54-6856-44FB-8970-2053F218789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35944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892BB7-56C4-480C-A2F8-8E9006AB933D}" type="datetimeFigureOut">
              <a:rPr lang="es-ES" smtClean="0"/>
              <a:t>26/03/2026</a:t>
            </a:fld>
            <a:endParaRPr lang="es-E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C0EB54-6856-44FB-8970-2053F218789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543397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892BB7-56C4-480C-A2F8-8E9006AB933D}" type="datetimeFigureOut">
              <a:rPr lang="es-ES" smtClean="0"/>
              <a:t>26/03/2026</a:t>
            </a:fld>
            <a:endParaRPr lang="es-E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C0EB54-6856-44FB-8970-2053F218789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375770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892BB7-56C4-480C-A2F8-8E9006AB933D}" type="datetimeFigureOut">
              <a:rPr lang="es-ES" smtClean="0"/>
              <a:t>26/03/2026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C0EB54-6856-44FB-8970-2053F218789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333173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892BB7-56C4-480C-A2F8-8E9006AB933D}" type="datetimeFigureOut">
              <a:rPr lang="es-ES" smtClean="0"/>
              <a:t>26/03/2026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C0EB54-6856-44FB-8970-2053F218789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850096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892BB7-56C4-480C-A2F8-8E9006AB933D}" type="datetimeFigureOut">
              <a:rPr lang="es-ES" smtClean="0"/>
              <a:t>26/03/2026</a:t>
            </a:fld>
            <a:endParaRPr lang="es-E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C0EB54-6856-44FB-8970-2053F218789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991236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892BB7-56C4-480C-A2F8-8E9006AB933D}" type="datetimeFigureOut">
              <a:rPr lang="es-ES" smtClean="0"/>
              <a:t>26/03/2026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C0EB54-6856-44FB-8970-2053F218789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0943395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892BB7-56C4-480C-A2F8-8E9006AB933D}" type="datetimeFigureOut">
              <a:rPr lang="es-ES" smtClean="0"/>
              <a:t>26/03/2026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C0EB54-6856-44FB-8970-2053F218789E}" type="slidenum">
              <a:rPr lang="es-ES" smtClean="0"/>
              <a:t>‹Nº›</a:t>
            </a:fld>
            <a:endParaRPr lang="es-ES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13570355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892BB7-56C4-480C-A2F8-8E9006AB933D}" type="datetimeFigureOut">
              <a:rPr lang="es-ES" smtClean="0"/>
              <a:t>26/03/2026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C0EB54-6856-44FB-8970-2053F218789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0194240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la 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s-ES" smtClean="0"/>
              <a:t>Editar el estilo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892BB7-56C4-480C-A2F8-8E9006AB933D}" type="datetimeFigureOut">
              <a:rPr lang="es-ES" smtClean="0"/>
              <a:t>26/03/2026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C0EB54-6856-44FB-8970-2053F218789E}" type="slidenum">
              <a:rPr lang="es-ES" smtClean="0"/>
              <a:t>‹Nº›</a:t>
            </a:fld>
            <a:endParaRPr lang="es-ES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57067161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s-ES" smtClean="0"/>
              <a:t>Editar el estilo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892BB7-56C4-480C-A2F8-8E9006AB933D}" type="datetimeFigureOut">
              <a:rPr lang="es-ES" smtClean="0"/>
              <a:t>26/03/2026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C0EB54-6856-44FB-8970-2053F218789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1922925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892BB7-56C4-480C-A2F8-8E9006AB933D}" type="datetimeFigureOut">
              <a:rPr lang="es-ES" smtClean="0"/>
              <a:t>26/03/2026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C0EB54-6856-44FB-8970-2053F218789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838218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892BB7-56C4-480C-A2F8-8E9006AB933D}" type="datetimeFigureOut">
              <a:rPr lang="es-ES" smtClean="0"/>
              <a:t>26/03/2026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C0EB54-6856-44FB-8970-2053F218789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562263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F0892BB7-56C4-480C-A2F8-8E9006AB933D}" type="datetimeFigureOut">
              <a:rPr lang="es-ES" smtClean="0"/>
              <a:t>26/03/2026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11C0EB54-6856-44FB-8970-2053F218789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8718937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777379" y="184558"/>
            <a:ext cx="10637241" cy="1991556"/>
          </a:xfrm>
        </p:spPr>
        <p:txBody>
          <a:bodyPr>
            <a:normAutofit/>
          </a:bodyPr>
          <a:lstStyle/>
          <a:p>
            <a:r>
              <a:rPr lang="es-ES" sz="4800" dirty="0" smtClean="0">
                <a:latin typeface="Arial Black" panose="020B0A04020102020204" pitchFamily="34" charset="0"/>
              </a:rPr>
              <a:t>Modelo de Fidelización</a:t>
            </a:r>
            <a:br>
              <a:rPr lang="es-ES" sz="4800" dirty="0" smtClean="0">
                <a:latin typeface="Arial Black" panose="020B0A04020102020204" pitchFamily="34" charset="0"/>
              </a:rPr>
            </a:br>
            <a:r>
              <a:rPr lang="es-ES" sz="4800" dirty="0" smtClean="0">
                <a:latin typeface="Arial Black" panose="020B0A04020102020204" pitchFamily="34" charset="0"/>
              </a:rPr>
              <a:t>y Recompra</a:t>
            </a:r>
            <a:endParaRPr lang="es-ES" sz="4800" dirty="0">
              <a:latin typeface="Arial Black" panose="020B0A04020102020204" pitchFamily="34" charset="0"/>
            </a:endParaRP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777379" y="2409350"/>
            <a:ext cx="3903678" cy="1114028"/>
          </a:xfrm>
        </p:spPr>
        <p:txBody>
          <a:bodyPr/>
          <a:lstStyle/>
          <a:p>
            <a:r>
              <a:rPr lang="es-ES" b="1" dirty="0">
                <a:solidFill>
                  <a:schemeClr val="tx1"/>
                </a:solidFill>
              </a:rPr>
              <a:t>Análisis del comportamiento de clientes y segmentación para optimizar marketing</a:t>
            </a:r>
          </a:p>
        </p:txBody>
      </p:sp>
      <p:sp>
        <p:nvSpPr>
          <p:cNvPr id="5" name="CuadroTexto 4"/>
          <p:cNvSpPr txBox="1"/>
          <p:nvPr/>
        </p:nvSpPr>
        <p:spPr>
          <a:xfrm>
            <a:off x="777379" y="3756614"/>
            <a:ext cx="674754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 smtClean="0"/>
              <a:t>Autor: Óscar Fernández</a:t>
            </a:r>
          </a:p>
          <a:p>
            <a:r>
              <a:rPr lang="es-ES" dirty="0" smtClean="0"/>
              <a:t>Data Science &amp; IA Generativa en Evolve Academy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3071865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/>
          <p:cNvSpPr txBox="1"/>
          <p:nvPr/>
        </p:nvSpPr>
        <p:spPr>
          <a:xfrm>
            <a:off x="964734" y="704675"/>
            <a:ext cx="41441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800" b="1" dirty="0" smtClean="0">
                <a:latin typeface="Arial Black" panose="020B0A04020102020204" pitchFamily="34" charset="0"/>
              </a:rPr>
              <a:t>Objetivos</a:t>
            </a:r>
            <a:endParaRPr lang="es-ES" sz="2800" b="1" dirty="0">
              <a:latin typeface="Arial Black" panose="020B0A04020102020204" pitchFamily="34" charset="0"/>
            </a:endParaRPr>
          </a:p>
        </p:txBody>
      </p:sp>
      <p:graphicFrame>
        <p:nvGraphicFramePr>
          <p:cNvPr id="3" name="Tabla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90906414"/>
              </p:ext>
            </p:extLst>
          </p:nvPr>
        </p:nvGraphicFramePr>
        <p:xfrm>
          <a:off x="964734" y="1382397"/>
          <a:ext cx="7667538" cy="1503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3650">
                  <a:extLst>
                    <a:ext uri="{9D8B030D-6E8A-4147-A177-3AD203B41FA5}">
                      <a16:colId xmlns:a16="http://schemas.microsoft.com/office/drawing/2014/main" val="3290061212"/>
                    </a:ext>
                  </a:extLst>
                </a:gridCol>
                <a:gridCol w="5963888">
                  <a:extLst>
                    <a:ext uri="{9D8B030D-6E8A-4147-A177-3AD203B41FA5}">
                      <a16:colId xmlns:a16="http://schemas.microsoft.com/office/drawing/2014/main" val="1582825422"/>
                    </a:ext>
                  </a:extLst>
                </a:gridCol>
              </a:tblGrid>
              <a:tr h="1503416">
                <a:tc>
                  <a:txBody>
                    <a:bodyPr/>
                    <a:lstStyle/>
                    <a:p>
                      <a:pPr algn="ctr"/>
                      <a:endParaRPr lang="es-ES" dirty="0" smtClean="0"/>
                    </a:p>
                    <a:p>
                      <a:pPr algn="ctr"/>
                      <a:endParaRPr lang="es-ES" dirty="0" smtClean="0"/>
                    </a:p>
                    <a:p>
                      <a:pPr algn="ctr"/>
                      <a:r>
                        <a:rPr lang="es-ES" sz="1600" dirty="0" smtClean="0">
                          <a:latin typeface="Arial Black" panose="020B0A04020102020204" pitchFamily="34" charset="0"/>
                        </a:rPr>
                        <a:t>OBJETIVOS</a:t>
                      </a:r>
                      <a:endParaRPr lang="es-ES" sz="1600" dirty="0">
                        <a:latin typeface="Arial Black" panose="020B0A040201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just">
                        <a:buFont typeface="Arial" panose="020B0604020202020204" pitchFamily="34" charset="0"/>
                        <a:buNone/>
                      </a:pPr>
                      <a:endParaRPr lang="es-ES" sz="1050" dirty="0" smtClean="0"/>
                    </a:p>
                    <a:p>
                      <a:pPr marL="0" indent="0" algn="just">
                        <a:buFont typeface="Arial" panose="020B0604020202020204" pitchFamily="34" charset="0"/>
                        <a:buNone/>
                      </a:pPr>
                      <a:endParaRPr lang="es-ES" sz="1050" dirty="0" smtClean="0"/>
                    </a:p>
                    <a:p>
                      <a:pPr marL="171450" indent="-171450" algn="just">
                        <a:buFont typeface="Arial" panose="020B0604020202020204" pitchFamily="34" charset="0"/>
                        <a:buChar char="•"/>
                      </a:pPr>
                      <a:r>
                        <a:rPr lang="es-ES" sz="1050" dirty="0" smtClean="0"/>
                        <a:t>Predecir la probabilidad de recompra </a:t>
                      </a:r>
                    </a:p>
                    <a:p>
                      <a:pPr marL="171450" indent="-171450" algn="just">
                        <a:buFont typeface="Arial" panose="020B0604020202020204" pitchFamily="34" charset="0"/>
                        <a:buChar char="•"/>
                      </a:pPr>
                      <a:r>
                        <a:rPr lang="es-ES" sz="1050" dirty="0" smtClean="0"/>
                        <a:t>Identificar clientes de alto y bajo valor </a:t>
                      </a:r>
                    </a:p>
                    <a:p>
                      <a:pPr marL="171450" indent="-171450" algn="just">
                        <a:buFont typeface="Arial" panose="020B0604020202020204" pitchFamily="34" charset="0"/>
                        <a:buChar char="•"/>
                      </a:pPr>
                      <a:r>
                        <a:rPr lang="es-ES" sz="1050" dirty="0" smtClean="0"/>
                        <a:t>Entender los factores clave del comportamiento del cliente </a:t>
                      </a:r>
                    </a:p>
                    <a:p>
                      <a:pPr marL="171450" indent="-171450" algn="just">
                        <a:buFont typeface="Arial" panose="020B0604020202020204" pitchFamily="34" charset="0"/>
                        <a:buChar char="•"/>
                      </a:pPr>
                      <a:r>
                        <a:rPr lang="es-ES" sz="1050" dirty="0" smtClean="0"/>
                        <a:t>Definir acciones de negocio para mejorar la fidelización</a:t>
                      </a:r>
                      <a:endParaRPr lang="es-ES" sz="1050" baseline="0" dirty="0" smtClean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1171726"/>
                  </a:ext>
                </a:extLst>
              </a:tr>
            </a:tbl>
          </a:graphicData>
        </a:graphic>
      </p:graphicFrame>
      <p:graphicFrame>
        <p:nvGraphicFramePr>
          <p:cNvPr id="6" name="Tabla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5170282"/>
              </p:ext>
            </p:extLst>
          </p:nvPr>
        </p:nvGraphicFramePr>
        <p:xfrm>
          <a:off x="964734" y="3120315"/>
          <a:ext cx="7667538" cy="26597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3650">
                  <a:extLst>
                    <a:ext uri="{9D8B030D-6E8A-4147-A177-3AD203B41FA5}">
                      <a16:colId xmlns:a16="http://schemas.microsoft.com/office/drawing/2014/main" val="3290061212"/>
                    </a:ext>
                  </a:extLst>
                </a:gridCol>
                <a:gridCol w="5963888">
                  <a:extLst>
                    <a:ext uri="{9D8B030D-6E8A-4147-A177-3AD203B41FA5}">
                      <a16:colId xmlns:a16="http://schemas.microsoft.com/office/drawing/2014/main" val="1582825422"/>
                    </a:ext>
                  </a:extLst>
                </a:gridCol>
              </a:tblGrid>
              <a:tr h="2659700">
                <a:tc>
                  <a:txBody>
                    <a:bodyPr/>
                    <a:lstStyle/>
                    <a:p>
                      <a:pPr algn="ctr"/>
                      <a:endParaRPr lang="es-ES" dirty="0" smtClean="0"/>
                    </a:p>
                    <a:p>
                      <a:pPr algn="ctr"/>
                      <a:endParaRPr lang="es-ES" dirty="0" smtClean="0"/>
                    </a:p>
                    <a:p>
                      <a:pPr algn="ctr"/>
                      <a:endParaRPr lang="es-ES" dirty="0" smtClean="0"/>
                    </a:p>
                    <a:p>
                      <a:pPr algn="ctr"/>
                      <a:endParaRPr lang="es-ES" dirty="0" smtClean="0"/>
                    </a:p>
                    <a:p>
                      <a:pPr algn="ctr"/>
                      <a:r>
                        <a:rPr lang="es-ES" sz="1600" dirty="0" smtClean="0">
                          <a:latin typeface="Arial Black" panose="020B0A04020102020204" pitchFamily="34" charset="0"/>
                        </a:rPr>
                        <a:t>Asunciones</a:t>
                      </a:r>
                      <a:endParaRPr lang="es-ES" sz="1600" dirty="0">
                        <a:latin typeface="Arial Black" panose="020B0A040201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just">
                        <a:buFont typeface="Arial" panose="020B0604020202020204" pitchFamily="34" charset="0"/>
                        <a:buNone/>
                      </a:pPr>
                      <a:endParaRPr lang="es-ES" sz="1050" baseline="0" dirty="0" smtClean="0"/>
                    </a:p>
                    <a:p>
                      <a:pPr marL="0" indent="0" algn="just">
                        <a:buFont typeface="Arial" panose="020B0604020202020204" pitchFamily="34" charset="0"/>
                        <a:buNone/>
                      </a:pPr>
                      <a:r>
                        <a:rPr lang="es-ES" sz="1050" dirty="0" smtClean="0"/>
                        <a:t>El análisis se realiza a nivel cliente, agregando su comportamiento histórico y separando pasado y futuro mediante una ventana temporal de 3 meses para evitar fugas de información</a:t>
                      </a:r>
                    </a:p>
                    <a:p>
                      <a:pPr marL="0" indent="0" algn="just">
                        <a:buFont typeface="Arial" panose="020B0604020202020204" pitchFamily="34" charset="0"/>
                        <a:buNone/>
                      </a:pPr>
                      <a:endParaRPr lang="es-ES" sz="1050" baseline="0" dirty="0" smtClean="0"/>
                    </a:p>
                    <a:p>
                      <a:r>
                        <a:rPr lang="es-ES" sz="1050" b="1" dirty="0" smtClean="0"/>
                        <a:t>METODOLOGÍA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s-ES" sz="1050" dirty="0" smtClean="0"/>
                        <a:t>Análisis exploratorio de los datos (EDA) 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s-ES" sz="1050" dirty="0" smtClean="0"/>
                        <a:t>Limpieza y transformación de datos 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s-ES" sz="1050" dirty="0" smtClean="0"/>
                        <a:t>Creación de variables de comportamiento</a:t>
                      </a:r>
                      <a:r>
                        <a:rPr lang="es-ES" sz="1050" baseline="0" dirty="0" smtClean="0"/>
                        <a:t> y </a:t>
                      </a:r>
                      <a:r>
                        <a:rPr lang="es-ES" sz="1050" baseline="0" dirty="0" err="1" smtClean="0"/>
                        <a:t>Feature</a:t>
                      </a:r>
                      <a:r>
                        <a:rPr lang="es-ES" sz="1050" baseline="0" dirty="0" smtClean="0"/>
                        <a:t> </a:t>
                      </a:r>
                      <a:r>
                        <a:rPr lang="es-ES" sz="1050" baseline="0" dirty="0" err="1" smtClean="0"/>
                        <a:t>Engirening</a:t>
                      </a:r>
                      <a:endParaRPr lang="es-ES" sz="1050" dirty="0" smtClean="0"/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s-ES" sz="1050" dirty="0" smtClean="0"/>
                        <a:t>Modelado y segmentación de clientes 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s-ES" sz="1050" dirty="0" smtClean="0"/>
                        <a:t>Generación de </a:t>
                      </a:r>
                      <a:r>
                        <a:rPr lang="es-ES" sz="1050" dirty="0" err="1" smtClean="0"/>
                        <a:t>insights</a:t>
                      </a:r>
                      <a:r>
                        <a:rPr lang="es-ES" sz="1050" dirty="0" smtClean="0"/>
                        <a:t> de negocio</a:t>
                      </a:r>
                    </a:p>
                    <a:p>
                      <a:pPr marL="0" indent="0" algn="just">
                        <a:buFont typeface="Arial" panose="020B0604020202020204" pitchFamily="34" charset="0"/>
                        <a:buNone/>
                      </a:pPr>
                      <a:endParaRPr lang="es-ES" sz="1050" baseline="0" dirty="0" smtClean="0"/>
                    </a:p>
                    <a:p>
                      <a:pPr marL="0" indent="0" algn="just">
                        <a:buFont typeface="Arial" panose="020B0604020202020204" pitchFamily="34" charset="0"/>
                        <a:buNone/>
                      </a:pPr>
                      <a:endParaRPr lang="es-ES" sz="1050" baseline="0" dirty="0" smtClean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11717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699245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ángulo redondeado 17"/>
          <p:cNvSpPr/>
          <p:nvPr/>
        </p:nvSpPr>
        <p:spPr>
          <a:xfrm>
            <a:off x="6154566" y="4580389"/>
            <a:ext cx="3635385" cy="38928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7" name="Rectángulo redondeado 16"/>
          <p:cNvSpPr/>
          <p:nvPr/>
        </p:nvSpPr>
        <p:spPr>
          <a:xfrm>
            <a:off x="981512" y="4580389"/>
            <a:ext cx="3607266" cy="38928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12689" y="297703"/>
            <a:ext cx="4649787" cy="576262"/>
          </a:xfrm>
        </p:spPr>
        <p:txBody>
          <a:bodyPr/>
          <a:lstStyle/>
          <a:p>
            <a:r>
              <a:rPr lang="es-ES" dirty="0" smtClean="0">
                <a:latin typeface="Arial Black" panose="020B0A04020102020204" pitchFamily="34" charset="0"/>
              </a:rPr>
              <a:t>Insights:</a:t>
            </a:r>
            <a:endParaRPr lang="es-ES" dirty="0">
              <a:latin typeface="Arial Black" panose="020B0A04020102020204" pitchFamily="34" charset="0"/>
            </a:endParaRPr>
          </a:p>
        </p:txBody>
      </p:sp>
      <p:pic>
        <p:nvPicPr>
          <p:cNvPr id="7" name="Marcador de contenido 6"/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6579" y="1721902"/>
            <a:ext cx="4359558" cy="2777133"/>
          </a:xfrm>
          <a:prstGeom prst="rect">
            <a:avLst/>
          </a:prstGeom>
        </p:spPr>
      </p:pic>
      <p:pic>
        <p:nvPicPr>
          <p:cNvPr id="8" name="Marcador de contenido 7"/>
          <p:cNvPicPr>
            <a:picLocks noGrp="1" noChangeAspect="1"/>
          </p:cNvPicPr>
          <p:nvPr>
            <p:ph sz="quarter" idx="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79066" y="1730491"/>
            <a:ext cx="4359558" cy="2768544"/>
          </a:xfrm>
          <a:prstGeom prst="rect">
            <a:avLst/>
          </a:prstGeom>
        </p:spPr>
      </p:pic>
      <p:sp>
        <p:nvSpPr>
          <p:cNvPr id="9" name="CuadroTexto 8"/>
          <p:cNvSpPr txBox="1"/>
          <p:nvPr/>
        </p:nvSpPr>
        <p:spPr>
          <a:xfrm>
            <a:off x="896579" y="974768"/>
            <a:ext cx="435955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i="1" dirty="0" smtClean="0">
                <a:solidFill>
                  <a:schemeClr val="bg1"/>
                </a:solidFill>
              </a:rPr>
              <a:t>Top 10 países de origen de los clientes</a:t>
            </a:r>
            <a:endParaRPr lang="es-ES" b="1" i="1" dirty="0">
              <a:solidFill>
                <a:schemeClr val="bg1"/>
              </a:solidFill>
            </a:endParaRPr>
          </a:p>
        </p:txBody>
      </p:sp>
      <p:sp>
        <p:nvSpPr>
          <p:cNvPr id="10" name="CuadroTexto 9"/>
          <p:cNvSpPr txBox="1"/>
          <p:nvPr/>
        </p:nvSpPr>
        <p:spPr>
          <a:xfrm>
            <a:off x="6079066" y="936684"/>
            <a:ext cx="435955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 smtClean="0">
                <a:solidFill>
                  <a:schemeClr val="bg1"/>
                </a:solidFill>
              </a:rPr>
              <a:t>Top 10 países de origen de los clientes excluyendo Reino Unido</a:t>
            </a:r>
            <a:endParaRPr lang="es-ES" b="1" dirty="0">
              <a:solidFill>
                <a:schemeClr val="bg1"/>
              </a:solidFill>
            </a:endParaRPr>
          </a:p>
        </p:txBody>
      </p:sp>
      <p:sp>
        <p:nvSpPr>
          <p:cNvPr id="11" name="CuadroTexto 10"/>
          <p:cNvSpPr txBox="1"/>
          <p:nvPr/>
        </p:nvSpPr>
        <p:spPr>
          <a:xfrm>
            <a:off x="896579" y="5051030"/>
            <a:ext cx="4359558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 smtClean="0"/>
              <a:t>La base de clientes está fuertemente concentrada en </a:t>
            </a:r>
            <a:r>
              <a:rPr lang="es-ES" sz="1400" b="1" u="sng" dirty="0" smtClean="0"/>
              <a:t>Reino Unido</a:t>
            </a:r>
            <a:r>
              <a:rPr lang="es-ES" sz="1400" dirty="0" smtClean="0"/>
              <a:t>, que representa la gran mayoría del total, mientras que el resto de países tienen un muy inferior.</a:t>
            </a:r>
          </a:p>
          <a:p>
            <a:r>
              <a:rPr lang="es-ES" sz="1400" dirty="0" smtClean="0"/>
              <a:t>Esta gráfica indica que existe una </a:t>
            </a:r>
            <a:r>
              <a:rPr lang="es-ES" sz="1400" b="1" u="sng" dirty="0" smtClean="0"/>
              <a:t>alta dependencia del mercado británico</a:t>
            </a:r>
            <a:r>
              <a:rPr lang="es-ES" sz="1400" dirty="0" smtClean="0"/>
              <a:t>, con una presencia internacional muy limitada.</a:t>
            </a:r>
          </a:p>
        </p:txBody>
      </p:sp>
      <p:sp>
        <p:nvSpPr>
          <p:cNvPr id="12" name="CuadroTexto 11"/>
          <p:cNvSpPr txBox="1"/>
          <p:nvPr/>
        </p:nvSpPr>
        <p:spPr>
          <a:xfrm>
            <a:off x="6079066" y="5051030"/>
            <a:ext cx="4359558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 smtClean="0"/>
              <a:t>Excluyendo Reino Unido, </a:t>
            </a:r>
            <a:r>
              <a:rPr lang="es-ES" sz="1400" b="1" u="sng" dirty="0" smtClean="0"/>
              <a:t>Alemania y Francia lideran la base internacional</a:t>
            </a:r>
            <a:r>
              <a:rPr lang="es-ES" sz="1400" dirty="0" smtClean="0"/>
              <a:t>, seguidos por España y Bélgica, aunque con una </a:t>
            </a:r>
            <a:r>
              <a:rPr lang="es-ES" sz="1400" b="1" u="sng" dirty="0" smtClean="0"/>
              <a:t>distribución bastante fragmentada</a:t>
            </a:r>
            <a:r>
              <a:rPr lang="es-ES" sz="1400" dirty="0" smtClean="0"/>
              <a:t>.</a:t>
            </a:r>
          </a:p>
          <a:p>
            <a:r>
              <a:rPr lang="es-ES" sz="1400" dirty="0" smtClean="0"/>
              <a:t>Esto sugiere una </a:t>
            </a:r>
            <a:r>
              <a:rPr lang="es-ES" sz="1400" b="1" u="sng" dirty="0" smtClean="0"/>
              <a:t>oportunidad de crecimiento en mercados internacionales</a:t>
            </a:r>
            <a:r>
              <a:rPr lang="es-ES" sz="1400" dirty="0" smtClean="0"/>
              <a:t>, donde la presencia actual es aún reducida.</a:t>
            </a:r>
          </a:p>
        </p:txBody>
      </p:sp>
      <p:sp>
        <p:nvSpPr>
          <p:cNvPr id="13" name="Marcador de texto 2"/>
          <p:cNvSpPr>
            <a:spLocks noGrp="1"/>
          </p:cNvSpPr>
          <p:nvPr>
            <p:ph type="body" idx="1"/>
          </p:nvPr>
        </p:nvSpPr>
        <p:spPr>
          <a:xfrm>
            <a:off x="981511" y="4431352"/>
            <a:ext cx="4194495" cy="538324"/>
          </a:xfrm>
        </p:spPr>
        <p:txBody>
          <a:bodyPr/>
          <a:lstStyle/>
          <a:p>
            <a:r>
              <a:rPr lang="es-ES" sz="2000" dirty="0" smtClean="0">
                <a:latin typeface="Arial Black" panose="020B0A04020102020204" pitchFamily="34" charset="0"/>
              </a:rPr>
              <a:t>Observaciones e Insight:</a:t>
            </a:r>
            <a:endParaRPr lang="es-ES" sz="2000" dirty="0">
              <a:latin typeface="Arial Black" panose="020B0A04020102020204" pitchFamily="34" charset="0"/>
            </a:endParaRPr>
          </a:p>
        </p:txBody>
      </p:sp>
      <p:sp>
        <p:nvSpPr>
          <p:cNvPr id="14" name="Marcador de texto 2"/>
          <p:cNvSpPr>
            <a:spLocks noGrp="1"/>
          </p:cNvSpPr>
          <p:nvPr>
            <p:ph type="body" idx="1"/>
          </p:nvPr>
        </p:nvSpPr>
        <p:spPr>
          <a:xfrm>
            <a:off x="6159197" y="4431352"/>
            <a:ext cx="3882426" cy="538324"/>
          </a:xfrm>
        </p:spPr>
        <p:txBody>
          <a:bodyPr/>
          <a:lstStyle/>
          <a:p>
            <a:r>
              <a:rPr lang="es-ES" sz="2000" dirty="0" smtClean="0">
                <a:latin typeface="Arial Black" panose="020B0A04020102020204" pitchFamily="34" charset="0"/>
              </a:rPr>
              <a:t>Observaciones e Insight:</a:t>
            </a:r>
            <a:endParaRPr lang="es-ES" sz="2000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19337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ángulo redondeado 24"/>
          <p:cNvSpPr/>
          <p:nvPr/>
        </p:nvSpPr>
        <p:spPr>
          <a:xfrm>
            <a:off x="6917449" y="3825380"/>
            <a:ext cx="2302052" cy="69433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4" name="Rectángulo redondeado 23"/>
          <p:cNvSpPr/>
          <p:nvPr/>
        </p:nvSpPr>
        <p:spPr>
          <a:xfrm>
            <a:off x="5863905" y="1174459"/>
            <a:ext cx="2265027" cy="39101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96580" y="297703"/>
            <a:ext cx="4359558" cy="576262"/>
          </a:xfrm>
        </p:spPr>
        <p:txBody>
          <a:bodyPr/>
          <a:lstStyle/>
          <a:p>
            <a:r>
              <a:rPr lang="es-ES" sz="2000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>Distribución de clientes por probabilidad de recompra:</a:t>
            </a:r>
            <a:endParaRPr lang="es-ES" sz="200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pic>
        <p:nvPicPr>
          <p:cNvPr id="7" name="Marcador de contenido 6"/>
          <p:cNvPicPr>
            <a:picLocks noGrp="1" noChangeAspect="1"/>
          </p:cNvPicPr>
          <p:nvPr>
            <p:ph sz="half" idx="2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6579" y="1027150"/>
            <a:ext cx="4359558" cy="2519219"/>
          </a:xfrm>
          <a:prstGeom prst="rect">
            <a:avLst/>
          </a:prstGeom>
        </p:spPr>
      </p:pic>
      <p:sp>
        <p:nvSpPr>
          <p:cNvPr id="5" name="Rectángulo 4"/>
          <p:cNvSpPr/>
          <p:nvPr/>
        </p:nvSpPr>
        <p:spPr>
          <a:xfrm>
            <a:off x="5751300" y="1520777"/>
            <a:ext cx="4359558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1400" dirty="0" smtClean="0"/>
              <a:t>La </a:t>
            </a:r>
            <a:r>
              <a:rPr lang="es-ES" sz="1400" b="1" u="sng" dirty="0" smtClean="0"/>
              <a:t>probabilidad de recompra </a:t>
            </a:r>
            <a:r>
              <a:rPr lang="es-ES" sz="1400" dirty="0" smtClean="0"/>
              <a:t>aumenta de forma clara entre los segmentos, con una </a:t>
            </a:r>
            <a:r>
              <a:rPr lang="es-ES" sz="1400" b="1" u="sng" dirty="0" smtClean="0"/>
              <a:t>separación consistente entre clientes de bajo, medio y alto potencial de recompra.</a:t>
            </a:r>
            <a:endParaRPr lang="es-ES" sz="1400" b="1" u="sng" dirty="0"/>
          </a:p>
        </p:txBody>
      </p:sp>
      <p:sp>
        <p:nvSpPr>
          <p:cNvPr id="6" name="Rectángulo 5"/>
          <p:cNvSpPr/>
          <p:nvPr/>
        </p:nvSpPr>
        <p:spPr>
          <a:xfrm>
            <a:off x="896579" y="4440140"/>
            <a:ext cx="3673135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1400" dirty="0" smtClean="0"/>
              <a:t>La segmentación es efectiva: diferencia correctamente entre clientes con bajo, medio y alto potencial de recompra.</a:t>
            </a:r>
            <a:endParaRPr lang="es-ES" sz="1400" dirty="0"/>
          </a:p>
        </p:txBody>
      </p:sp>
      <p:pic>
        <p:nvPicPr>
          <p:cNvPr id="14" name="Imagen 1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6579" y="3890903"/>
            <a:ext cx="5550043" cy="2513406"/>
          </a:xfrm>
          <a:prstGeom prst="rect">
            <a:avLst/>
          </a:prstGeom>
        </p:spPr>
      </p:pic>
      <p:sp>
        <p:nvSpPr>
          <p:cNvPr id="16" name="Rectángulo 15"/>
          <p:cNvSpPr/>
          <p:nvPr/>
        </p:nvSpPr>
        <p:spPr>
          <a:xfrm>
            <a:off x="6917449" y="4519713"/>
            <a:ext cx="3417788" cy="1169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1400" dirty="0" smtClean="0"/>
              <a:t>Aunque el modelo divide a los clientes de forma equilibrada, en la práctica </a:t>
            </a:r>
            <a:r>
              <a:rPr lang="es-ES" sz="1400" b="1" u="sng" dirty="0" smtClean="0"/>
              <a:t>la mayoría se concentra en segmentos de bajo y medio potencial.</a:t>
            </a:r>
            <a:endParaRPr lang="es-ES" sz="1400" b="1" u="sng" dirty="0"/>
          </a:p>
        </p:txBody>
      </p:sp>
      <p:sp>
        <p:nvSpPr>
          <p:cNvPr id="21" name="Marcador de texto 2"/>
          <p:cNvSpPr>
            <a:spLocks noGrp="1"/>
          </p:cNvSpPr>
          <p:nvPr>
            <p:ph type="body" idx="1"/>
          </p:nvPr>
        </p:nvSpPr>
        <p:spPr>
          <a:xfrm>
            <a:off x="5804138" y="1027150"/>
            <a:ext cx="2500965" cy="538324"/>
          </a:xfrm>
        </p:spPr>
        <p:txBody>
          <a:bodyPr/>
          <a:lstStyle/>
          <a:p>
            <a:r>
              <a:rPr lang="es-ES" sz="2000" dirty="0" smtClean="0">
                <a:latin typeface="Arial Black" panose="020B0A04020102020204" pitchFamily="34" charset="0"/>
              </a:rPr>
              <a:t>Observaciones:</a:t>
            </a:r>
            <a:endParaRPr lang="es-ES" sz="2000" dirty="0">
              <a:latin typeface="Arial Black" panose="020B0A04020102020204" pitchFamily="34" charset="0"/>
            </a:endParaRPr>
          </a:p>
        </p:txBody>
      </p:sp>
      <p:sp>
        <p:nvSpPr>
          <p:cNvPr id="22" name="Marcador de texto 2"/>
          <p:cNvSpPr>
            <a:spLocks noGrp="1"/>
          </p:cNvSpPr>
          <p:nvPr>
            <p:ph type="body" idx="1"/>
          </p:nvPr>
        </p:nvSpPr>
        <p:spPr>
          <a:xfrm>
            <a:off x="6917449" y="3674378"/>
            <a:ext cx="3193409" cy="845335"/>
          </a:xfrm>
        </p:spPr>
        <p:txBody>
          <a:bodyPr/>
          <a:lstStyle/>
          <a:p>
            <a:r>
              <a:rPr lang="es-ES" sz="2000" dirty="0" smtClean="0">
                <a:latin typeface="Arial Black" panose="020B0A04020102020204" pitchFamily="34" charset="0"/>
              </a:rPr>
              <a:t>Insight proporcionado:</a:t>
            </a:r>
            <a:endParaRPr lang="es-ES" sz="2000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649344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ángulo redondeado 9"/>
          <p:cNvSpPr/>
          <p:nvPr/>
        </p:nvSpPr>
        <p:spPr>
          <a:xfrm>
            <a:off x="6744749" y="3312129"/>
            <a:ext cx="2332139" cy="38832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8" name="Rectángulo redondeado 7"/>
          <p:cNvSpPr/>
          <p:nvPr/>
        </p:nvSpPr>
        <p:spPr>
          <a:xfrm>
            <a:off x="6744748" y="1407135"/>
            <a:ext cx="2248249" cy="71111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6688822" y="1272911"/>
            <a:ext cx="2304176" cy="845335"/>
          </a:xfrm>
        </p:spPr>
        <p:txBody>
          <a:bodyPr/>
          <a:lstStyle/>
          <a:p>
            <a:r>
              <a:rPr lang="es-ES" sz="2000" dirty="0" smtClean="0">
                <a:latin typeface="Arial Black" panose="020B0A04020102020204" pitchFamily="34" charset="0"/>
              </a:rPr>
              <a:t>Insight proporcionado:</a:t>
            </a:r>
            <a:endParaRPr lang="es-ES" sz="2000" dirty="0">
              <a:latin typeface="Arial Black" panose="020B0A04020102020204" pitchFamily="34" charset="0"/>
            </a:endParaRPr>
          </a:p>
        </p:txBody>
      </p:sp>
      <p:pic>
        <p:nvPicPr>
          <p:cNvPr id="7" name="Marcador de contenido 6"/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6577" y="1463772"/>
            <a:ext cx="5401103" cy="4517577"/>
          </a:xfrm>
          <a:prstGeom prst="rect">
            <a:avLst/>
          </a:prstGeom>
        </p:spPr>
      </p:pic>
      <p:sp>
        <p:nvSpPr>
          <p:cNvPr id="21" name="CuadroTexto 20"/>
          <p:cNvSpPr txBox="1"/>
          <p:nvPr/>
        </p:nvSpPr>
        <p:spPr>
          <a:xfrm>
            <a:off x="6677636" y="3722560"/>
            <a:ext cx="3669309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 smtClean="0"/>
              <a:t>Los tres segmentos muestran </a:t>
            </a:r>
            <a:r>
              <a:rPr lang="es-ES" sz="1400" b="1" u="sng" dirty="0" smtClean="0"/>
              <a:t>distribuciones claramente diferenciadas</a:t>
            </a:r>
            <a:r>
              <a:rPr lang="es-ES" sz="1400" dirty="0" smtClean="0"/>
              <a:t> de probabilidad de recompra, con un </a:t>
            </a:r>
            <a:r>
              <a:rPr lang="es-ES" sz="1400" b="1" u="sng" dirty="0" smtClean="0"/>
              <a:t>incremento progresivo desde Low hasta High</a:t>
            </a:r>
            <a:r>
              <a:rPr lang="es-ES" sz="1400" dirty="0" smtClean="0"/>
              <a:t>.</a:t>
            </a:r>
            <a:endParaRPr lang="es-ES" sz="1400" dirty="0" smtClean="0"/>
          </a:p>
        </p:txBody>
      </p:sp>
      <p:sp>
        <p:nvSpPr>
          <p:cNvPr id="2" name="Rectángulo 1"/>
          <p:cNvSpPr/>
          <p:nvPr/>
        </p:nvSpPr>
        <p:spPr>
          <a:xfrm>
            <a:off x="6688821" y="2174995"/>
            <a:ext cx="4015530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1400" dirty="0" smtClean="0"/>
              <a:t>El modelo permite identificar de forma fiable clientes con </a:t>
            </a:r>
            <a:r>
              <a:rPr lang="es-ES" sz="1400" b="1" u="sng" dirty="0" smtClean="0"/>
              <a:t>distinto potencial de valor</a:t>
            </a:r>
            <a:r>
              <a:rPr lang="es-ES" sz="1400" dirty="0" smtClean="0"/>
              <a:t>, facilitando estrategias diferenciadas de retención y crecimiento.</a:t>
            </a:r>
            <a:endParaRPr lang="es-ES" sz="1400" dirty="0"/>
          </a:p>
        </p:txBody>
      </p:sp>
      <p:sp>
        <p:nvSpPr>
          <p:cNvPr id="22" name="Marcador de texto 2"/>
          <p:cNvSpPr>
            <a:spLocks noGrp="1"/>
          </p:cNvSpPr>
          <p:nvPr>
            <p:ph type="body" idx="1"/>
          </p:nvPr>
        </p:nvSpPr>
        <p:spPr>
          <a:xfrm>
            <a:off x="896577" y="422354"/>
            <a:ext cx="5401102" cy="918107"/>
          </a:xfrm>
        </p:spPr>
        <p:txBody>
          <a:bodyPr/>
          <a:lstStyle/>
          <a:p>
            <a:r>
              <a:rPr lang="es-ES" sz="2400" b="1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>Distribución de segmentos en </a:t>
            </a:r>
            <a:r>
              <a:rPr lang="es-ES" sz="2400" b="1" dirty="0" err="1" smtClean="0">
                <a:solidFill>
                  <a:schemeClr val="bg1"/>
                </a:solidFill>
                <a:latin typeface="Arial Black" panose="020B0A04020102020204" pitchFamily="34" charset="0"/>
              </a:rPr>
              <a:t>boxplot</a:t>
            </a:r>
            <a:endParaRPr lang="es-ES" sz="2400" b="1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23" name="Marcador de texto 2"/>
          <p:cNvSpPr>
            <a:spLocks noGrp="1"/>
          </p:cNvSpPr>
          <p:nvPr>
            <p:ph type="body" idx="1"/>
          </p:nvPr>
        </p:nvSpPr>
        <p:spPr>
          <a:xfrm>
            <a:off x="6677636" y="3162130"/>
            <a:ext cx="2500965" cy="538324"/>
          </a:xfrm>
        </p:spPr>
        <p:txBody>
          <a:bodyPr/>
          <a:lstStyle/>
          <a:p>
            <a:r>
              <a:rPr lang="es-ES" sz="2000" dirty="0" smtClean="0">
                <a:latin typeface="Arial Black" panose="020B0A04020102020204" pitchFamily="34" charset="0"/>
              </a:rPr>
              <a:t>Observaciones:</a:t>
            </a:r>
            <a:endParaRPr lang="es-ES" sz="2000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374700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redondeado 7"/>
          <p:cNvSpPr/>
          <p:nvPr/>
        </p:nvSpPr>
        <p:spPr>
          <a:xfrm>
            <a:off x="981512" y="5100506"/>
            <a:ext cx="2340528" cy="39671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6" name="Rectángulo redondeado 5"/>
          <p:cNvSpPr/>
          <p:nvPr/>
        </p:nvSpPr>
        <p:spPr>
          <a:xfrm>
            <a:off x="7260671" y="1828800"/>
            <a:ext cx="2346122" cy="71111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7" name="Marcador de contenido 6"/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6577" y="1463773"/>
            <a:ext cx="5960224" cy="3444182"/>
          </a:xfrm>
          <a:prstGeom prst="rect">
            <a:avLst/>
          </a:prstGeom>
        </p:spPr>
      </p:pic>
      <p:sp>
        <p:nvSpPr>
          <p:cNvPr id="22" name="Marcador de texto 2"/>
          <p:cNvSpPr>
            <a:spLocks noGrp="1"/>
          </p:cNvSpPr>
          <p:nvPr>
            <p:ph type="body" idx="1"/>
          </p:nvPr>
        </p:nvSpPr>
        <p:spPr>
          <a:xfrm>
            <a:off x="896577" y="422354"/>
            <a:ext cx="5960224" cy="918107"/>
          </a:xfrm>
        </p:spPr>
        <p:txBody>
          <a:bodyPr/>
          <a:lstStyle/>
          <a:p>
            <a:r>
              <a:rPr lang="es-ES" sz="2400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>Distribución de Recencia por probabilidad de compra</a:t>
            </a:r>
            <a:endParaRPr lang="es-ES" sz="240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10" name="CuadroTexto 9"/>
          <p:cNvSpPr txBox="1"/>
          <p:nvPr/>
        </p:nvSpPr>
        <p:spPr>
          <a:xfrm>
            <a:off x="896576" y="5548161"/>
            <a:ext cx="540110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 smtClean="0"/>
              <a:t>Existe una </a:t>
            </a:r>
            <a:r>
              <a:rPr lang="es-ES" sz="1400" b="1" u="sng" dirty="0" smtClean="0"/>
              <a:t>relación inversa clara entre recencia y probabilidad de recompra</a:t>
            </a:r>
            <a:r>
              <a:rPr lang="es-ES" sz="1400" dirty="0" smtClean="0"/>
              <a:t>: cuanto más tiempo pasa desde la última compra, menor es la probabilidad de que el cliente vuelva a comprar.</a:t>
            </a:r>
            <a:endParaRPr lang="es-ES" sz="1400" dirty="0" smtClean="0"/>
          </a:p>
        </p:txBody>
      </p:sp>
      <p:sp>
        <p:nvSpPr>
          <p:cNvPr id="11" name="Marcador de texto 2"/>
          <p:cNvSpPr>
            <a:spLocks noGrp="1"/>
          </p:cNvSpPr>
          <p:nvPr>
            <p:ph type="body" idx="1"/>
          </p:nvPr>
        </p:nvSpPr>
        <p:spPr>
          <a:xfrm>
            <a:off x="981512" y="4958896"/>
            <a:ext cx="2416029" cy="538324"/>
          </a:xfrm>
        </p:spPr>
        <p:txBody>
          <a:bodyPr/>
          <a:lstStyle/>
          <a:p>
            <a:r>
              <a:rPr lang="es-ES" sz="2000" dirty="0" smtClean="0">
                <a:latin typeface="Arial Black" panose="020B0A04020102020204" pitchFamily="34" charset="0"/>
              </a:rPr>
              <a:t>Observaciones:</a:t>
            </a:r>
            <a:endParaRPr lang="es-ES" sz="2000" dirty="0">
              <a:latin typeface="Arial Black" panose="020B0A04020102020204" pitchFamily="34" charset="0"/>
            </a:endParaRPr>
          </a:p>
        </p:txBody>
      </p:sp>
      <p:sp>
        <p:nvSpPr>
          <p:cNvPr id="12" name="Marcador de texto 2"/>
          <p:cNvSpPr>
            <a:spLocks noGrp="1"/>
          </p:cNvSpPr>
          <p:nvPr>
            <p:ph type="body" idx="1"/>
          </p:nvPr>
        </p:nvSpPr>
        <p:spPr>
          <a:xfrm>
            <a:off x="7200551" y="1904301"/>
            <a:ext cx="3143076" cy="635610"/>
          </a:xfrm>
        </p:spPr>
        <p:txBody>
          <a:bodyPr/>
          <a:lstStyle/>
          <a:p>
            <a:r>
              <a:rPr lang="es-ES" sz="2000" dirty="0" smtClean="0">
                <a:latin typeface="Arial Black" panose="020B0A04020102020204" pitchFamily="34" charset="0"/>
              </a:rPr>
              <a:t>Insight proporcionado:</a:t>
            </a:r>
            <a:endParaRPr lang="es-ES" sz="2000" dirty="0">
              <a:latin typeface="Arial Black" panose="020B0A04020102020204" pitchFamily="34" charset="0"/>
            </a:endParaRPr>
          </a:p>
        </p:txBody>
      </p:sp>
      <p:sp>
        <p:nvSpPr>
          <p:cNvPr id="13" name="Rectángulo 12"/>
          <p:cNvSpPr/>
          <p:nvPr/>
        </p:nvSpPr>
        <p:spPr>
          <a:xfrm>
            <a:off x="7200550" y="2539911"/>
            <a:ext cx="4015530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1400" dirty="0" smtClean="0"/>
              <a:t>La </a:t>
            </a:r>
            <a:r>
              <a:rPr lang="es-ES" sz="1400" b="1" u="sng" dirty="0" smtClean="0"/>
              <a:t>recencia es un indicador clave </a:t>
            </a:r>
            <a:r>
              <a:rPr lang="es-ES" sz="1400" dirty="0" smtClean="0"/>
              <a:t>del comportamiento del cliente y un indicador crítico del riesgo de abandono.</a:t>
            </a:r>
          </a:p>
          <a:p>
            <a:r>
              <a:rPr lang="es-ES" sz="1400" dirty="0" smtClean="0"/>
              <a:t>Los </a:t>
            </a:r>
            <a:r>
              <a:rPr lang="es-ES" sz="1400" b="1" u="sng" dirty="0" smtClean="0"/>
              <a:t>clientes que no han comprado recientemente </a:t>
            </a:r>
            <a:r>
              <a:rPr lang="es-ES" sz="1400" dirty="0" smtClean="0"/>
              <a:t>tienen una probabilidad significativamente menor de volver, lo que los convierte en un </a:t>
            </a:r>
            <a:r>
              <a:rPr lang="es-ES" sz="1400" b="1" u="sng" dirty="0" smtClean="0"/>
              <a:t>foco prioritario para acciones de reactivación.</a:t>
            </a:r>
          </a:p>
          <a:p>
            <a:endParaRPr lang="es-ES" sz="1400" dirty="0"/>
          </a:p>
        </p:txBody>
      </p:sp>
    </p:spTree>
    <p:extLst>
      <p:ext uri="{BB962C8B-B14F-4D97-AF65-F5344CB8AC3E}">
        <p14:creationId xmlns:p14="http://schemas.microsoft.com/office/powerpoint/2010/main" val="19081441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redondeado 2"/>
          <p:cNvSpPr/>
          <p:nvPr/>
        </p:nvSpPr>
        <p:spPr>
          <a:xfrm>
            <a:off x="956345" y="4244829"/>
            <a:ext cx="2340528" cy="41666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" name="Rectángulo redondeado 1"/>
          <p:cNvSpPr/>
          <p:nvPr/>
        </p:nvSpPr>
        <p:spPr>
          <a:xfrm>
            <a:off x="5622021" y="4244829"/>
            <a:ext cx="3370977" cy="40600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7" name="Marcador de contenido 6"/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6575" y="1466909"/>
            <a:ext cx="8740975" cy="2529811"/>
          </a:xfrm>
          <a:prstGeom prst="rect">
            <a:avLst/>
          </a:prstGeom>
        </p:spPr>
      </p:pic>
      <p:sp>
        <p:nvSpPr>
          <p:cNvPr id="22" name="Marcador de texto 2"/>
          <p:cNvSpPr>
            <a:spLocks noGrp="1"/>
          </p:cNvSpPr>
          <p:nvPr>
            <p:ph type="body" idx="1"/>
          </p:nvPr>
        </p:nvSpPr>
        <p:spPr>
          <a:xfrm>
            <a:off x="896577" y="422354"/>
            <a:ext cx="7005852" cy="918107"/>
          </a:xfrm>
        </p:spPr>
        <p:txBody>
          <a:bodyPr/>
          <a:lstStyle/>
          <a:p>
            <a:r>
              <a:rPr lang="es-ES" sz="2400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>Distribución de Segmentos por Recencia, Frecuencia y </a:t>
            </a:r>
            <a:r>
              <a:rPr lang="es-ES" sz="2400" dirty="0">
                <a:solidFill>
                  <a:schemeClr val="bg1"/>
                </a:solidFill>
                <a:latin typeface="Arial Black" panose="020B0A04020102020204" pitchFamily="34" charset="0"/>
              </a:rPr>
              <a:t>G</a:t>
            </a:r>
            <a:r>
              <a:rPr lang="es-ES" sz="2400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>asto medio</a:t>
            </a:r>
            <a:endParaRPr lang="es-ES" sz="240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10" name="CuadroTexto 9"/>
          <p:cNvSpPr txBox="1"/>
          <p:nvPr/>
        </p:nvSpPr>
        <p:spPr>
          <a:xfrm>
            <a:off x="896576" y="4650834"/>
            <a:ext cx="4581435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 smtClean="0"/>
              <a:t>Existen diferencias claras entre segmentos en términos de comportamiento: los</a:t>
            </a:r>
            <a:r>
              <a:rPr lang="es-ES" sz="1400" b="1" u="sng" dirty="0" smtClean="0"/>
              <a:t> clientes High son más recientes, compran con mayor frecuencia y generan un gasto significativamente superior </a:t>
            </a:r>
            <a:r>
              <a:rPr lang="es-ES" sz="1400" dirty="0" smtClean="0"/>
              <a:t>con respecto a los otros segmentos.</a:t>
            </a:r>
            <a:endParaRPr lang="es-ES" sz="1400" dirty="0" smtClean="0"/>
          </a:p>
        </p:txBody>
      </p:sp>
      <p:sp>
        <p:nvSpPr>
          <p:cNvPr id="11" name="Marcador de texto 2"/>
          <p:cNvSpPr>
            <a:spLocks noGrp="1"/>
          </p:cNvSpPr>
          <p:nvPr>
            <p:ph type="body" idx="1"/>
          </p:nvPr>
        </p:nvSpPr>
        <p:spPr>
          <a:xfrm>
            <a:off x="896576" y="4123168"/>
            <a:ext cx="2500965" cy="538324"/>
          </a:xfrm>
        </p:spPr>
        <p:txBody>
          <a:bodyPr/>
          <a:lstStyle/>
          <a:p>
            <a:r>
              <a:rPr lang="es-ES" sz="2000" dirty="0" smtClean="0">
                <a:latin typeface="Arial Black" panose="020B0A04020102020204" pitchFamily="34" charset="0"/>
              </a:rPr>
              <a:t>Observaciones:</a:t>
            </a:r>
            <a:endParaRPr lang="es-ES" sz="2000" dirty="0">
              <a:latin typeface="Arial Black" panose="020B0A04020102020204" pitchFamily="34" charset="0"/>
            </a:endParaRPr>
          </a:p>
        </p:txBody>
      </p:sp>
      <p:sp>
        <p:nvSpPr>
          <p:cNvPr id="12" name="Marcador de texto 2"/>
          <p:cNvSpPr>
            <a:spLocks noGrp="1"/>
          </p:cNvSpPr>
          <p:nvPr>
            <p:ph type="body" idx="1"/>
          </p:nvPr>
        </p:nvSpPr>
        <p:spPr>
          <a:xfrm>
            <a:off x="5622021" y="4056152"/>
            <a:ext cx="5157832" cy="605340"/>
          </a:xfrm>
        </p:spPr>
        <p:txBody>
          <a:bodyPr/>
          <a:lstStyle/>
          <a:p>
            <a:r>
              <a:rPr lang="es-ES" sz="2000" dirty="0" smtClean="0">
                <a:latin typeface="Arial Black" panose="020B0A04020102020204" pitchFamily="34" charset="0"/>
              </a:rPr>
              <a:t>Insight proporcionado:</a:t>
            </a:r>
            <a:endParaRPr lang="es-ES" sz="2000" dirty="0">
              <a:latin typeface="Arial Black" panose="020B0A04020102020204" pitchFamily="34" charset="0"/>
            </a:endParaRPr>
          </a:p>
        </p:txBody>
      </p:sp>
      <p:sp>
        <p:nvSpPr>
          <p:cNvPr id="13" name="Rectángulo 12"/>
          <p:cNvSpPr/>
          <p:nvPr/>
        </p:nvSpPr>
        <p:spPr>
          <a:xfrm>
            <a:off x="5622021" y="4651528"/>
            <a:ext cx="4015530" cy="1169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1400" dirty="0" smtClean="0"/>
              <a:t>El </a:t>
            </a:r>
            <a:r>
              <a:rPr lang="es-ES" sz="1400" b="1" u="sng" dirty="0" smtClean="0"/>
              <a:t>modelo no solo predice recompra</a:t>
            </a:r>
            <a:r>
              <a:rPr lang="es-ES" sz="1400" dirty="0" smtClean="0"/>
              <a:t>, sino que </a:t>
            </a:r>
            <a:r>
              <a:rPr lang="es-ES" sz="1400" b="1" u="sng" dirty="0" smtClean="0"/>
              <a:t>identifica clientes de alto valor económico</a:t>
            </a:r>
            <a:r>
              <a:rPr lang="es-ES" sz="1400" dirty="0" smtClean="0"/>
              <a:t>, lo que permite priorizar estrategias </a:t>
            </a:r>
            <a:r>
              <a:rPr lang="es-ES" sz="1400" b="1" u="sng" dirty="0" smtClean="0"/>
              <a:t>de retención y maximización de ingresos</a:t>
            </a:r>
            <a:r>
              <a:rPr lang="es-ES" sz="1400" dirty="0" smtClean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522397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ángulo redondeado 16"/>
          <p:cNvSpPr/>
          <p:nvPr/>
        </p:nvSpPr>
        <p:spPr>
          <a:xfrm>
            <a:off x="5862836" y="4370664"/>
            <a:ext cx="1351696" cy="40924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96579" y="297703"/>
            <a:ext cx="6166951" cy="576262"/>
          </a:xfrm>
        </p:spPr>
        <p:txBody>
          <a:bodyPr/>
          <a:lstStyle/>
          <a:p>
            <a:r>
              <a:rPr lang="es-ES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>Modelo – LightGBM (Optuna)</a:t>
            </a:r>
            <a:endParaRPr lang="es-ES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pic>
        <p:nvPicPr>
          <p:cNvPr id="7" name="Marcador de contenido 6"/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6579" y="998827"/>
            <a:ext cx="3930030" cy="3117899"/>
          </a:xfrm>
          <a:prstGeom prst="rect">
            <a:avLst/>
          </a:prstGeom>
        </p:spPr>
      </p:pic>
      <p:pic>
        <p:nvPicPr>
          <p:cNvPr id="8" name="Marcador de contenido 7"/>
          <p:cNvPicPr>
            <a:picLocks noGrp="1" noChangeAspect="1"/>
          </p:cNvPicPr>
          <p:nvPr>
            <p:ph sz="quarter" idx="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2837" y="998827"/>
            <a:ext cx="3922885" cy="3117899"/>
          </a:xfrm>
          <a:prstGeom prst="rect">
            <a:avLst/>
          </a:prstGeom>
        </p:spPr>
      </p:pic>
      <p:sp>
        <p:nvSpPr>
          <p:cNvPr id="13" name="Marcador de texto 2"/>
          <p:cNvSpPr>
            <a:spLocks noGrp="1"/>
          </p:cNvSpPr>
          <p:nvPr>
            <p:ph type="body" idx="1"/>
          </p:nvPr>
        </p:nvSpPr>
        <p:spPr>
          <a:xfrm>
            <a:off x="5862836" y="4241588"/>
            <a:ext cx="4279428" cy="538324"/>
          </a:xfrm>
        </p:spPr>
        <p:txBody>
          <a:bodyPr/>
          <a:lstStyle/>
          <a:p>
            <a:r>
              <a:rPr lang="es-ES" sz="2000" dirty="0" smtClean="0">
                <a:latin typeface="Arial Black" panose="020B0A04020102020204" pitchFamily="34" charset="0"/>
              </a:rPr>
              <a:t>Insight:</a:t>
            </a:r>
            <a:endParaRPr lang="es-ES" sz="2000" dirty="0">
              <a:latin typeface="Arial Black" panose="020B0A04020102020204" pitchFamily="34" charset="0"/>
            </a:endParaRPr>
          </a:p>
        </p:txBody>
      </p:sp>
      <p:sp>
        <p:nvSpPr>
          <p:cNvPr id="4" name="Rectángulo 3"/>
          <p:cNvSpPr/>
          <p:nvPr/>
        </p:nvSpPr>
        <p:spPr>
          <a:xfrm>
            <a:off x="816529" y="4241588"/>
            <a:ext cx="4010080" cy="233910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1200" dirty="0" smtClean="0"/>
              <a:t>Se ha utilizado un </a:t>
            </a:r>
            <a:r>
              <a:rPr lang="es-ES" sz="1200" b="1" u="sng" dirty="0" smtClean="0"/>
              <a:t>modelo de LightGBM optimizado con Optuna</a:t>
            </a:r>
            <a:r>
              <a:rPr lang="es-ES" sz="1200" dirty="0" smtClean="0"/>
              <a:t> para predecir la </a:t>
            </a:r>
            <a:r>
              <a:rPr lang="es-ES" sz="1200" b="1" u="sng" dirty="0" smtClean="0"/>
              <a:t>probabilidad de recompra</a:t>
            </a:r>
            <a:r>
              <a:rPr lang="es-ES" sz="1200" dirty="0" smtClean="0"/>
              <a:t> de los clientes.</a:t>
            </a:r>
          </a:p>
          <a:p>
            <a:endParaRPr lang="es-ES" sz="1200" dirty="0" smtClean="0"/>
          </a:p>
          <a:p>
            <a:r>
              <a:rPr lang="es-ES" sz="1200" dirty="0" smtClean="0"/>
              <a:t>Se selecciona LightGBM por su capacidad de capturar </a:t>
            </a:r>
            <a:r>
              <a:rPr lang="es-ES" sz="1200" b="1" u="sng" dirty="0" smtClean="0"/>
              <a:t>patrones complejos y ofrecer alto rendimiento</a:t>
            </a:r>
            <a:r>
              <a:rPr lang="es-ES" sz="1200" dirty="0" smtClean="0"/>
              <a:t> en este tipo de problemas.</a:t>
            </a:r>
          </a:p>
          <a:p>
            <a:endParaRPr lang="es-ES" sz="1200" dirty="0"/>
          </a:p>
          <a:p>
            <a:r>
              <a:rPr lang="es-ES" sz="1200" dirty="0" smtClean="0"/>
              <a:t>El modelo muestra una </a:t>
            </a:r>
            <a:r>
              <a:rPr lang="es-ES" sz="1200" b="1" u="sng" dirty="0" smtClean="0"/>
              <a:t>buena capacidad de discriminación</a:t>
            </a:r>
            <a:r>
              <a:rPr lang="es-ES" sz="1200" dirty="0" smtClean="0"/>
              <a:t>, con un </a:t>
            </a:r>
            <a:r>
              <a:rPr lang="es-ES" sz="1200" b="1" u="sng" dirty="0" smtClean="0"/>
              <a:t>AUC de 0.81</a:t>
            </a:r>
            <a:r>
              <a:rPr lang="es-ES" sz="1200" dirty="0" smtClean="0"/>
              <a:t>, significativamente superior a un modelo aleatorio.</a:t>
            </a:r>
            <a:endParaRPr lang="es-ES" sz="1200" dirty="0" smtClean="0"/>
          </a:p>
          <a:p>
            <a:endParaRPr lang="es-ES" sz="1400" dirty="0"/>
          </a:p>
        </p:txBody>
      </p:sp>
      <p:sp>
        <p:nvSpPr>
          <p:cNvPr id="15" name="Rectángulo 14"/>
          <p:cNvSpPr/>
          <p:nvPr/>
        </p:nvSpPr>
        <p:spPr>
          <a:xfrm>
            <a:off x="5787335" y="4779912"/>
            <a:ext cx="3922885" cy="8617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1200" dirty="0" smtClean="0"/>
              <a:t>El modelo permite </a:t>
            </a:r>
            <a:r>
              <a:rPr lang="es-ES" sz="1200" b="1" u="sng" dirty="0" smtClean="0"/>
              <a:t>identificar correctamente </a:t>
            </a:r>
            <a:r>
              <a:rPr lang="es-ES" sz="1200" dirty="0" smtClean="0"/>
              <a:t>qué </a:t>
            </a:r>
            <a:r>
              <a:rPr lang="es-ES" sz="1200" b="1" u="sng" dirty="0" smtClean="0"/>
              <a:t>clientes</a:t>
            </a:r>
            <a:r>
              <a:rPr lang="es-ES" sz="1200" dirty="0" smtClean="0"/>
              <a:t> tienen </a:t>
            </a:r>
            <a:r>
              <a:rPr lang="es-ES" sz="1200" b="1" u="sng" dirty="0" smtClean="0"/>
              <a:t>mayor probabilidad de recompra</a:t>
            </a:r>
            <a:r>
              <a:rPr lang="es-ES" sz="1200" dirty="0" smtClean="0"/>
              <a:t>, con un rendimiento significativamente superior al azar.</a:t>
            </a:r>
            <a:endParaRPr lang="es-ES" sz="1200" dirty="0"/>
          </a:p>
        </p:txBody>
      </p:sp>
    </p:spTree>
    <p:extLst>
      <p:ext uri="{BB962C8B-B14F-4D97-AF65-F5344CB8AC3E}">
        <p14:creationId xmlns:p14="http://schemas.microsoft.com/office/powerpoint/2010/main" val="35347685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redondeado 2"/>
          <p:cNvSpPr/>
          <p:nvPr/>
        </p:nvSpPr>
        <p:spPr>
          <a:xfrm>
            <a:off x="5622021" y="3558265"/>
            <a:ext cx="3412922" cy="43210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" name="Rectángulo redondeado 1"/>
          <p:cNvSpPr/>
          <p:nvPr/>
        </p:nvSpPr>
        <p:spPr>
          <a:xfrm>
            <a:off x="896576" y="3556932"/>
            <a:ext cx="2500965" cy="43344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7" name="Marcador de contenido 6"/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6576" y="1400962"/>
            <a:ext cx="10673682" cy="1741064"/>
          </a:xfrm>
          <a:prstGeom prst="rect">
            <a:avLst/>
          </a:prstGeom>
        </p:spPr>
      </p:pic>
      <p:sp>
        <p:nvSpPr>
          <p:cNvPr id="22" name="Marcador de texto 2"/>
          <p:cNvSpPr>
            <a:spLocks noGrp="1"/>
          </p:cNvSpPr>
          <p:nvPr>
            <p:ph type="body" idx="1"/>
          </p:nvPr>
        </p:nvSpPr>
        <p:spPr>
          <a:xfrm>
            <a:off x="896576" y="527645"/>
            <a:ext cx="4514322" cy="560285"/>
          </a:xfrm>
        </p:spPr>
        <p:txBody>
          <a:bodyPr/>
          <a:lstStyle/>
          <a:p>
            <a:r>
              <a:rPr lang="es-ES" sz="2400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>Explicabilidad del Modelo</a:t>
            </a:r>
            <a:endParaRPr lang="es-ES" sz="240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10" name="CuadroTexto 9"/>
          <p:cNvSpPr txBox="1"/>
          <p:nvPr/>
        </p:nvSpPr>
        <p:spPr>
          <a:xfrm>
            <a:off x="829463" y="4056152"/>
            <a:ext cx="4581435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 smtClean="0"/>
              <a:t>La </a:t>
            </a:r>
            <a:r>
              <a:rPr lang="es-ES" sz="1400" b="1" u="sng" dirty="0" smtClean="0"/>
              <a:t>variable más importante </a:t>
            </a:r>
            <a:r>
              <a:rPr lang="es-ES" sz="1400" dirty="0" smtClean="0"/>
              <a:t>para predecir la recompra es la </a:t>
            </a:r>
            <a:r>
              <a:rPr lang="es-ES" sz="1400" b="1" u="sng" dirty="0" smtClean="0"/>
              <a:t>recencia</a:t>
            </a:r>
            <a:r>
              <a:rPr lang="es-ES" sz="1400" dirty="0" smtClean="0"/>
              <a:t>, seguida por </a:t>
            </a:r>
            <a:r>
              <a:rPr lang="es-ES" sz="1400" b="1" u="sng" dirty="0" smtClean="0"/>
              <a:t>variables relacionadas</a:t>
            </a:r>
            <a:r>
              <a:rPr lang="es-ES" sz="1400" dirty="0" smtClean="0"/>
              <a:t> con el comportamiento de compra como el </a:t>
            </a:r>
            <a:r>
              <a:rPr lang="es-ES" sz="1400" b="1" u="sng" dirty="0" smtClean="0"/>
              <a:t>tiempo medio entre compras y el gasto</a:t>
            </a:r>
            <a:r>
              <a:rPr lang="es-ES" sz="1400" dirty="0" smtClean="0"/>
              <a:t>.</a:t>
            </a:r>
          </a:p>
          <a:p>
            <a:endParaRPr lang="es-ES" sz="1400" dirty="0"/>
          </a:p>
          <a:p>
            <a:r>
              <a:rPr lang="es-ES" sz="1400" dirty="0" smtClean="0"/>
              <a:t>La </a:t>
            </a:r>
            <a:r>
              <a:rPr lang="es-ES" sz="1400" b="1" u="sng" dirty="0" smtClean="0"/>
              <a:t>recencia domina claramente el modelo</a:t>
            </a:r>
            <a:r>
              <a:rPr lang="es-ES" sz="1400" dirty="0" smtClean="0"/>
              <a:t>, con un impacto muy superior al resto de variables.</a:t>
            </a:r>
            <a:endParaRPr lang="es-ES" sz="1400" dirty="0" smtClean="0"/>
          </a:p>
        </p:txBody>
      </p:sp>
      <p:sp>
        <p:nvSpPr>
          <p:cNvPr id="11" name="Marcador de texto 2"/>
          <p:cNvSpPr>
            <a:spLocks noGrp="1"/>
          </p:cNvSpPr>
          <p:nvPr>
            <p:ph type="body" idx="1"/>
          </p:nvPr>
        </p:nvSpPr>
        <p:spPr>
          <a:xfrm>
            <a:off x="896576" y="3452049"/>
            <a:ext cx="2500965" cy="538324"/>
          </a:xfrm>
        </p:spPr>
        <p:txBody>
          <a:bodyPr/>
          <a:lstStyle/>
          <a:p>
            <a:r>
              <a:rPr lang="es-ES" sz="2000" dirty="0" smtClean="0">
                <a:latin typeface="Arial Black" panose="020B0A04020102020204" pitchFamily="34" charset="0"/>
              </a:rPr>
              <a:t>Observaciones:</a:t>
            </a:r>
            <a:endParaRPr lang="es-ES" sz="2000" dirty="0">
              <a:latin typeface="Arial Black" panose="020B0A04020102020204" pitchFamily="34" charset="0"/>
            </a:endParaRPr>
          </a:p>
        </p:txBody>
      </p:sp>
      <p:sp>
        <p:nvSpPr>
          <p:cNvPr id="12" name="Marcador de texto 2"/>
          <p:cNvSpPr>
            <a:spLocks noGrp="1"/>
          </p:cNvSpPr>
          <p:nvPr>
            <p:ph type="body" idx="1"/>
          </p:nvPr>
        </p:nvSpPr>
        <p:spPr>
          <a:xfrm>
            <a:off x="5622021" y="3380913"/>
            <a:ext cx="5157832" cy="605340"/>
          </a:xfrm>
        </p:spPr>
        <p:txBody>
          <a:bodyPr/>
          <a:lstStyle/>
          <a:p>
            <a:r>
              <a:rPr lang="es-ES" sz="2000" dirty="0" smtClean="0">
                <a:latin typeface="Arial Black" panose="020B0A04020102020204" pitchFamily="34" charset="0"/>
              </a:rPr>
              <a:t>Insight proporcionado:</a:t>
            </a:r>
            <a:endParaRPr lang="es-ES" sz="2000" dirty="0">
              <a:latin typeface="Arial Black" panose="020B0A04020102020204" pitchFamily="34" charset="0"/>
            </a:endParaRPr>
          </a:p>
        </p:txBody>
      </p:sp>
      <p:sp>
        <p:nvSpPr>
          <p:cNvPr id="13" name="Rectángulo 12"/>
          <p:cNvSpPr/>
          <p:nvPr/>
        </p:nvSpPr>
        <p:spPr>
          <a:xfrm>
            <a:off x="5512964" y="4056152"/>
            <a:ext cx="4015530" cy="1169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1400" dirty="0" smtClean="0"/>
              <a:t>El modelo confirma que </a:t>
            </a:r>
            <a:r>
              <a:rPr lang="es-ES" sz="1400" b="1" u="sng" dirty="0" smtClean="0"/>
              <a:t>el comportamiento reciente del cliente es el mejor predictor de recompra</a:t>
            </a:r>
            <a:r>
              <a:rPr lang="es-ES" sz="1400" dirty="0" smtClean="0"/>
              <a:t>, lo que permite identificar de forma temprana clientes en riesgo de abandono.</a:t>
            </a:r>
          </a:p>
        </p:txBody>
      </p:sp>
    </p:spTree>
    <p:extLst>
      <p:ext uri="{BB962C8B-B14F-4D97-AF65-F5344CB8AC3E}">
        <p14:creationId xmlns:p14="http://schemas.microsoft.com/office/powerpoint/2010/main" val="9568871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/>
          <p:cNvSpPr txBox="1"/>
          <p:nvPr/>
        </p:nvSpPr>
        <p:spPr>
          <a:xfrm>
            <a:off x="964734" y="453255"/>
            <a:ext cx="76675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800" b="1" dirty="0" smtClean="0">
                <a:latin typeface="Arial Black" panose="020B0A04020102020204" pitchFamily="34" charset="0"/>
              </a:rPr>
              <a:t>Conclusiones y próximos pasos</a:t>
            </a:r>
            <a:endParaRPr lang="es-ES" sz="2800" b="1" dirty="0">
              <a:latin typeface="Arial Black" panose="020B0A04020102020204" pitchFamily="34" charset="0"/>
            </a:endParaRPr>
          </a:p>
        </p:txBody>
      </p:sp>
      <p:graphicFrame>
        <p:nvGraphicFramePr>
          <p:cNvPr id="3" name="Tabla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292017"/>
              </p:ext>
            </p:extLst>
          </p:nvPr>
        </p:nvGraphicFramePr>
        <p:xfrm>
          <a:off x="964733" y="1048624"/>
          <a:ext cx="9253057" cy="205131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5936">
                  <a:extLst>
                    <a:ext uri="{9D8B030D-6E8A-4147-A177-3AD203B41FA5}">
                      <a16:colId xmlns:a16="http://schemas.microsoft.com/office/drawing/2014/main" val="3290061212"/>
                    </a:ext>
                  </a:extLst>
                </a:gridCol>
                <a:gridCol w="7197121">
                  <a:extLst>
                    <a:ext uri="{9D8B030D-6E8A-4147-A177-3AD203B41FA5}">
                      <a16:colId xmlns:a16="http://schemas.microsoft.com/office/drawing/2014/main" val="1582825422"/>
                    </a:ext>
                  </a:extLst>
                </a:gridCol>
              </a:tblGrid>
              <a:tr h="2051311">
                <a:tc>
                  <a:txBody>
                    <a:bodyPr/>
                    <a:lstStyle/>
                    <a:p>
                      <a:pPr algn="ctr"/>
                      <a:endParaRPr lang="es-ES" dirty="0" smtClean="0"/>
                    </a:p>
                    <a:p>
                      <a:pPr algn="ctr"/>
                      <a:endParaRPr lang="es-ES" dirty="0" smtClean="0"/>
                    </a:p>
                    <a:p>
                      <a:pPr algn="ctr"/>
                      <a:endParaRPr lang="es-ES" dirty="0" smtClean="0"/>
                    </a:p>
                    <a:p>
                      <a:pPr algn="ctr"/>
                      <a:r>
                        <a:rPr lang="es-ES" sz="1600" dirty="0" smtClean="0">
                          <a:latin typeface="Arial Black" panose="020B0A04020102020204" pitchFamily="34" charset="0"/>
                        </a:rPr>
                        <a:t>CONCLUSIONES</a:t>
                      </a:r>
                      <a:endParaRPr lang="es-ES" sz="1600" dirty="0">
                        <a:latin typeface="Arial Black" panose="020B0A040201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just">
                        <a:buFont typeface="Arial" panose="020B0604020202020204" pitchFamily="34" charset="0"/>
                        <a:buNone/>
                      </a:pPr>
                      <a:endParaRPr lang="es-ES" sz="1050" dirty="0" smtClean="0"/>
                    </a:p>
                    <a:p>
                      <a:pPr marL="0" indent="0" algn="just">
                        <a:buFont typeface="Arial" panose="020B0604020202020204" pitchFamily="34" charset="0"/>
                        <a:buNone/>
                      </a:pPr>
                      <a:endParaRPr lang="es-ES" sz="1050" dirty="0" smtClean="0"/>
                    </a:p>
                    <a:p>
                      <a:pPr marL="0" indent="0" algn="just">
                        <a:buFont typeface="Arial" panose="020B0604020202020204" pitchFamily="34" charset="0"/>
                        <a:buNone/>
                      </a:pPr>
                      <a:endParaRPr lang="es-ES" sz="1050" dirty="0" smtClean="0"/>
                    </a:p>
                    <a:p>
                      <a:pPr marL="171450" indent="-171450" algn="just">
                        <a:buFont typeface="Arial" panose="020B0604020202020204" pitchFamily="34" charset="0"/>
                        <a:buChar char="•"/>
                      </a:pPr>
                      <a:r>
                        <a:rPr lang="es-ES" sz="1050" dirty="0" smtClean="0"/>
                        <a:t>La base de clientes está altamente concentrada en Reino Unido </a:t>
                      </a:r>
                    </a:p>
                    <a:p>
                      <a:pPr marL="171450" indent="-171450" algn="just">
                        <a:buFont typeface="Arial" panose="020B0604020202020204" pitchFamily="34" charset="0"/>
                        <a:buChar char="•"/>
                      </a:pPr>
                      <a:r>
                        <a:rPr lang="es-ES" sz="1050" dirty="0" smtClean="0"/>
                        <a:t>Una gran parte de los clientes está en riesgo de no recompra </a:t>
                      </a:r>
                    </a:p>
                    <a:p>
                      <a:pPr marL="171450" indent="-171450" algn="just">
                        <a:buFont typeface="Arial" panose="020B0604020202020204" pitchFamily="34" charset="0"/>
                        <a:buChar char="•"/>
                      </a:pPr>
                      <a:r>
                        <a:rPr lang="es-ES" sz="1050" dirty="0" smtClean="0"/>
                        <a:t>La recencia es el principal driver del comportamiento </a:t>
                      </a:r>
                    </a:p>
                    <a:p>
                      <a:pPr marL="171450" indent="-171450" algn="just">
                        <a:buFont typeface="Arial" panose="020B0604020202020204" pitchFamily="34" charset="0"/>
                        <a:buChar char="•"/>
                      </a:pPr>
                      <a:r>
                        <a:rPr lang="es-ES" sz="1050" dirty="0" smtClean="0"/>
                        <a:t>Los clientes High concentran la mayor parte del valor</a:t>
                      </a:r>
                    </a:p>
                    <a:p>
                      <a:pPr marL="171450" indent="-171450" algn="just">
                        <a:buFont typeface="Arial" panose="020B0604020202020204" pitchFamily="34" charset="0"/>
                        <a:buChar char="•"/>
                      </a:pPr>
                      <a:r>
                        <a:rPr lang="es-ES" sz="1050" dirty="0" smtClean="0"/>
                        <a:t>El modelo presenta un buen rendimiento (AUC ~0.81) y está alineado con la lógica de negocio.</a:t>
                      </a:r>
                      <a:endParaRPr lang="es-ES" sz="1050" baseline="0" dirty="0" smtClean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1171726"/>
                  </a:ext>
                </a:extLst>
              </a:tr>
            </a:tbl>
          </a:graphicData>
        </a:graphic>
      </p:graphicFrame>
      <p:graphicFrame>
        <p:nvGraphicFramePr>
          <p:cNvPr id="6" name="Tabla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8248024"/>
              </p:ext>
            </p:extLst>
          </p:nvPr>
        </p:nvGraphicFramePr>
        <p:xfrm>
          <a:off x="964734" y="3172083"/>
          <a:ext cx="9253056" cy="34216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5936">
                  <a:extLst>
                    <a:ext uri="{9D8B030D-6E8A-4147-A177-3AD203B41FA5}">
                      <a16:colId xmlns:a16="http://schemas.microsoft.com/office/drawing/2014/main" val="3290061212"/>
                    </a:ext>
                  </a:extLst>
                </a:gridCol>
                <a:gridCol w="7197120">
                  <a:extLst>
                    <a:ext uri="{9D8B030D-6E8A-4147-A177-3AD203B41FA5}">
                      <a16:colId xmlns:a16="http://schemas.microsoft.com/office/drawing/2014/main" val="1582825422"/>
                    </a:ext>
                  </a:extLst>
                </a:gridCol>
              </a:tblGrid>
              <a:tr h="3421663">
                <a:tc>
                  <a:txBody>
                    <a:bodyPr/>
                    <a:lstStyle/>
                    <a:p>
                      <a:pPr algn="ctr"/>
                      <a:endParaRPr lang="es-ES" dirty="0" smtClean="0"/>
                    </a:p>
                    <a:p>
                      <a:pPr algn="ctr"/>
                      <a:endParaRPr lang="es-ES" dirty="0" smtClean="0"/>
                    </a:p>
                    <a:p>
                      <a:pPr algn="ctr"/>
                      <a:endParaRPr lang="es-ES" dirty="0" smtClean="0"/>
                    </a:p>
                    <a:p>
                      <a:pPr algn="ctr"/>
                      <a:endParaRPr lang="es-ES" dirty="0" smtClean="0"/>
                    </a:p>
                    <a:p>
                      <a:pPr algn="ctr"/>
                      <a:endParaRPr lang="es-ES" dirty="0" smtClean="0"/>
                    </a:p>
                    <a:p>
                      <a:pPr algn="ctr"/>
                      <a:r>
                        <a:rPr lang="es-ES" sz="1600" dirty="0" smtClean="0">
                          <a:latin typeface="Arial Black" panose="020B0A04020102020204" pitchFamily="34" charset="0"/>
                        </a:rPr>
                        <a:t>PRÓXIMOS</a:t>
                      </a:r>
                      <a:r>
                        <a:rPr lang="es-ES" sz="1600" baseline="0" dirty="0" smtClean="0">
                          <a:latin typeface="Arial Black" panose="020B0A04020102020204" pitchFamily="34" charset="0"/>
                        </a:rPr>
                        <a:t> PASOS</a:t>
                      </a:r>
                      <a:endParaRPr lang="es-ES" sz="1600" dirty="0">
                        <a:latin typeface="Arial Black" panose="020B0A040201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just">
                        <a:buFont typeface="+mj-lt"/>
                        <a:buNone/>
                      </a:pPr>
                      <a:r>
                        <a:rPr lang="es-ES" sz="1050" i="1" u="sng" baseline="0" dirty="0" smtClean="0">
                          <a:latin typeface="Arial Black" panose="020B0A04020102020204" pitchFamily="34" charset="0"/>
                        </a:rPr>
                        <a:t>Posible plan de acción</a:t>
                      </a:r>
                    </a:p>
                    <a:p>
                      <a:pPr marL="0" lvl="0" indent="0" algn="just">
                        <a:buFont typeface="+mj-lt"/>
                        <a:buNone/>
                      </a:pPr>
                      <a:endParaRPr lang="es-ES" sz="1050" i="1" u="sng" baseline="0" dirty="0" smtClean="0">
                        <a:latin typeface="Arial Black" panose="020B0A04020102020204" pitchFamily="34" charset="0"/>
                      </a:endParaRPr>
                    </a:p>
                    <a:p>
                      <a:pPr marL="685800" lvl="1" indent="-228600" algn="just">
                        <a:buFont typeface="Arial" panose="020B0604020202020204" pitchFamily="34" charset="0"/>
                        <a:buChar char="•"/>
                      </a:pPr>
                      <a:r>
                        <a:rPr lang="es-ES" sz="1050" b="1" dirty="0" smtClean="0"/>
                        <a:t>Low (riesgo)</a:t>
                      </a:r>
                    </a:p>
                    <a:p>
                      <a:pPr marL="457200" lvl="1" indent="0" algn="just">
                        <a:buFont typeface="Arial" panose="020B0604020202020204" pitchFamily="34" charset="0"/>
                        <a:buNone/>
                      </a:pPr>
                      <a:endParaRPr lang="es-ES" sz="1050" b="1" dirty="0" smtClean="0"/>
                    </a:p>
                    <a:p>
                      <a:pPr marL="1143000" lvl="2" indent="-228600" algn="just">
                        <a:buFont typeface="+mj-lt"/>
                        <a:buAutoNum type="arabicParenR"/>
                      </a:pPr>
                      <a:r>
                        <a:rPr lang="es-ES" sz="1050" dirty="0" smtClean="0"/>
                        <a:t>Campañas de reactivación (descuentos, email marketing)</a:t>
                      </a:r>
                    </a:p>
                    <a:p>
                      <a:pPr marL="1143000" lvl="2" indent="-228600" algn="just">
                        <a:buFont typeface="+mj-lt"/>
                        <a:buAutoNum type="arabicParenR"/>
                      </a:pPr>
                      <a:r>
                        <a:rPr lang="es-ES" sz="1050" dirty="0" smtClean="0"/>
                        <a:t>Identificar clientes recuperables vs perdidos</a:t>
                      </a:r>
                    </a:p>
                    <a:p>
                      <a:pPr marL="1143000" lvl="2" indent="-228600" algn="just">
                        <a:buFont typeface="+mj-lt"/>
                        <a:buAutoNum type="arabicParenR"/>
                      </a:pPr>
                      <a:endParaRPr lang="es-ES" sz="1050" dirty="0" smtClean="0"/>
                    </a:p>
                    <a:p>
                      <a:pPr marL="685800" lvl="1" indent="-228600" algn="just">
                        <a:buFont typeface="Arial" panose="020B0604020202020204" pitchFamily="34" charset="0"/>
                        <a:buChar char="•"/>
                      </a:pPr>
                      <a:r>
                        <a:rPr lang="es-ES" sz="1050" dirty="0" smtClean="0"/>
                        <a:t>Medium (potencial medio)</a:t>
                      </a:r>
                    </a:p>
                    <a:p>
                      <a:pPr marL="685800" lvl="1" indent="-228600" algn="just">
                        <a:buFont typeface="Arial" panose="020B0604020202020204" pitchFamily="34" charset="0"/>
                        <a:buChar char="•"/>
                      </a:pPr>
                      <a:endParaRPr lang="es-ES" sz="1050" dirty="0" smtClean="0"/>
                    </a:p>
                    <a:p>
                      <a:pPr marL="1143000" lvl="2" indent="-228600" algn="just">
                        <a:buFont typeface="+mj-lt"/>
                        <a:buAutoNum type="arabicParenR"/>
                      </a:pPr>
                      <a:r>
                        <a:rPr lang="es-ES" sz="1050" dirty="0" smtClean="0"/>
                        <a:t>Incentivar la recompra (recomendaciones)</a:t>
                      </a:r>
                    </a:p>
                    <a:p>
                      <a:pPr marL="1143000" lvl="2" indent="-228600" algn="just">
                        <a:buFont typeface="+mj-lt"/>
                        <a:buAutoNum type="arabicParenR"/>
                      </a:pPr>
                      <a:r>
                        <a:rPr lang="es-ES" sz="1050" dirty="0" smtClean="0"/>
                        <a:t>Convertirlos en clientes High</a:t>
                      </a:r>
                      <a:endParaRPr lang="es-ES" sz="1050" baseline="0" dirty="0" smtClean="0"/>
                    </a:p>
                    <a:p>
                      <a:pPr marL="0" indent="0" algn="just">
                        <a:buFont typeface="Arial" panose="020B0604020202020204" pitchFamily="34" charset="0"/>
                        <a:buNone/>
                      </a:pPr>
                      <a:endParaRPr lang="es-ES" sz="1050" baseline="0" dirty="0" smtClean="0"/>
                    </a:p>
                    <a:p>
                      <a:pPr marL="628650" lvl="1" indent="-171450" algn="just">
                        <a:buFont typeface="Arial" panose="020B0604020202020204" pitchFamily="34" charset="0"/>
                        <a:buChar char="•"/>
                      </a:pPr>
                      <a:r>
                        <a:rPr lang="es-ES" sz="1050" dirty="0" smtClean="0"/>
                        <a:t>High (alto potencial)</a:t>
                      </a:r>
                    </a:p>
                    <a:p>
                      <a:pPr marL="628650" lvl="1" indent="-171450" algn="just">
                        <a:buFont typeface="Arial" panose="020B0604020202020204" pitchFamily="34" charset="0"/>
                        <a:buChar char="•"/>
                      </a:pPr>
                      <a:endParaRPr lang="es-ES" sz="1050" dirty="0" smtClean="0"/>
                    </a:p>
                    <a:p>
                      <a:pPr marL="1143000" lvl="2" indent="-228600" algn="just">
                        <a:buFont typeface="+mj-lt"/>
                        <a:buAutoNum type="arabicParenR"/>
                      </a:pPr>
                      <a:r>
                        <a:rPr lang="es-ES" sz="1050" dirty="0" smtClean="0"/>
                        <a:t>Estrategias de fidelización (programas de </a:t>
                      </a:r>
                      <a:r>
                        <a:rPr lang="es-ES" sz="1050" dirty="0" err="1" smtClean="0"/>
                        <a:t>loyalty</a:t>
                      </a:r>
                      <a:r>
                        <a:rPr lang="es-ES" sz="1050" dirty="0" smtClean="0"/>
                        <a:t>)</a:t>
                      </a:r>
                    </a:p>
                    <a:p>
                      <a:pPr marL="0" lvl="0" indent="0" algn="just">
                        <a:buFont typeface="+mj-lt"/>
                        <a:buNone/>
                      </a:pPr>
                      <a:endParaRPr lang="es-ES" sz="1050" baseline="0" dirty="0" smtClean="0"/>
                    </a:p>
                    <a:p>
                      <a:pPr marL="0" lvl="0" indent="0" algn="just">
                        <a:buFont typeface="+mj-lt"/>
                        <a:buNone/>
                      </a:pPr>
                      <a:r>
                        <a:rPr lang="es-ES" sz="1050" u="sng" dirty="0" smtClean="0">
                          <a:latin typeface="Arial Black" panose="020B0A04020102020204" pitchFamily="34" charset="0"/>
                        </a:rPr>
                        <a:t>Otros análisis propuestos:</a:t>
                      </a:r>
                    </a:p>
                    <a:p>
                      <a:pPr marL="171450" lvl="0" indent="-171450" algn="just">
                        <a:buFont typeface="Arial" panose="020B0604020202020204" pitchFamily="34" charset="0"/>
                        <a:buChar char="•"/>
                      </a:pPr>
                      <a:r>
                        <a:rPr lang="es-ES" sz="1050" dirty="0" smtClean="0"/>
                        <a:t>Análisis de </a:t>
                      </a:r>
                      <a:r>
                        <a:rPr lang="es-ES" sz="1050" dirty="0" err="1" smtClean="0"/>
                        <a:t>churn</a:t>
                      </a:r>
                      <a:r>
                        <a:rPr lang="es-ES" sz="1050" dirty="0" smtClean="0"/>
                        <a:t> más detallado</a:t>
                      </a:r>
                    </a:p>
                    <a:p>
                      <a:pPr marL="171450" lvl="0" indent="-171450" algn="just">
                        <a:buFont typeface="Arial" panose="020B0604020202020204" pitchFamily="34" charset="0"/>
                        <a:buChar char="•"/>
                      </a:pPr>
                      <a:r>
                        <a:rPr lang="es-ES" sz="1050" dirty="0" smtClean="0"/>
                        <a:t>Optimización de campañas por segmento</a:t>
                      </a:r>
                    </a:p>
                    <a:p>
                      <a:pPr marL="171450" lvl="0" indent="-171450" algn="just">
                        <a:buFont typeface="Arial" panose="020B0604020202020204" pitchFamily="34" charset="0"/>
                        <a:buChar char="•"/>
                      </a:pPr>
                      <a:r>
                        <a:rPr lang="es-ES" sz="1050" baseline="0" dirty="0" smtClean="0"/>
                        <a:t>Segmentación avanzada con </a:t>
                      </a:r>
                      <a:r>
                        <a:rPr lang="es-ES" sz="1050" baseline="0" dirty="0" err="1" smtClean="0"/>
                        <a:t>clustering</a:t>
                      </a:r>
                      <a:endParaRPr lang="es-ES" sz="1050" baseline="0" dirty="0" smtClean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11717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048116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Sector">
  <a:themeElements>
    <a:clrScheme name="Sector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Sector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ector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155</TotalTime>
  <Words>856</Words>
  <Application>Microsoft Office PowerPoint</Application>
  <PresentationFormat>Panorámica</PresentationFormat>
  <Paragraphs>113</Paragraphs>
  <Slides>10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5" baseType="lpstr">
      <vt:lpstr>Arial</vt:lpstr>
      <vt:lpstr>Arial Black</vt:lpstr>
      <vt:lpstr>Century Gothic</vt:lpstr>
      <vt:lpstr>Wingdings 3</vt:lpstr>
      <vt:lpstr>Sector</vt:lpstr>
      <vt:lpstr>Modelo de Fidelización y Recompra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Modelo de Fidelización y Recompra</dc:title>
  <dc:creator>User</dc:creator>
  <cp:lastModifiedBy>User</cp:lastModifiedBy>
  <cp:revision>15</cp:revision>
  <dcterms:created xsi:type="dcterms:W3CDTF">2026-03-26T12:51:04Z</dcterms:created>
  <dcterms:modified xsi:type="dcterms:W3CDTF">2026-03-26T15:26:47Z</dcterms:modified>
</cp:coreProperties>
</file>